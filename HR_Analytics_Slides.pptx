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Department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Department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1A6B"/>
              </a:solidFill>
              <a:effectLst/>
            </c:spPr>
          </c:dPt>
          <c:dPt>
            <c:idx val="1"/>
            <c:bubble3D val="0"/>
            <c:spPr>
              <a:solidFill>
                <a:srgbClr val="9C27B0"/>
              </a:solidFill>
              <a:effectLst/>
            </c:spPr>
          </c:dPt>
          <c:dPt>
            <c:idx val="2"/>
            <c:bubble3D val="0"/>
            <c:spPr>
              <a:solidFill>
                <a:srgbClr val="CE93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R&amp;D</c:v>
                </c:pt>
                <c:pt idx="1">
                  <c:v>Sales</c:v>
                </c:pt>
                <c:pt idx="2">
                  <c:v>HR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967</c:v>
                </c:pt>
                <c:pt idx="1">
                  <c:v>450</c:v>
                </c:pt>
                <c:pt idx="2">
                  <c:v>63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Gender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1A6B"/>
              </a:solidFill>
              <a:effectLst/>
            </c:spPr>
          </c:dPt>
          <c:dPt>
            <c:idx val="1"/>
            <c:bubble3D val="0"/>
            <c:spPr>
              <a:solidFill>
                <a:srgbClr val="CE93D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889</c:v>
                </c:pt>
                <c:pt idx="1">
                  <c:v>591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7B2D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123</c:v>
                </c:pt>
                <c:pt idx="1">
                  <c:v>611</c:v>
                </c:pt>
                <c:pt idx="2">
                  <c:v>471</c:v>
                </c:pt>
                <c:pt idx="3">
                  <c:v>228</c:v>
                </c:pt>
                <c:pt idx="4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By Education Field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9C2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Life Sciences</c:v>
                  </c:pt>
                  <c:pt idx="1">
                    <c:v>Medical</c:v>
                  </c:pt>
                  <c:pt idx="2">
                    <c:v>Marketing</c:v>
                  </c:pt>
                  <c:pt idx="3">
                    <c:v>Tech Degree</c:v>
                  </c:pt>
                  <c:pt idx="4">
                    <c:v>Other</c:v>
                  </c:pt>
                  <c:pt idx="5">
                    <c:v>HR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607</c:v>
                </c:pt>
                <c:pt idx="1">
                  <c:v>470</c:v>
                </c:pt>
                <c:pt idx="2">
                  <c:v>161</c:v>
                </c:pt>
                <c:pt idx="3">
                  <c:v>132</c:v>
                </c:pt>
                <c:pt idx="4">
                  <c:v>83</c:v>
                </c:pt>
                <c:pt idx="5">
                  <c:v>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Active vs Attrition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1A6B"/>
              </a:solidFill>
              <a:effectLst/>
            </c:spPr>
          </c:dPt>
          <c:dPt>
            <c:idx val="1"/>
            <c:bubble3D val="0"/>
            <c:spPr>
              <a:solidFill>
                <a:srgbClr val="E040F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Active (84%)</c:v>
                </c:pt>
                <c:pt idx="1">
                  <c:v>Left (16%)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1242</c:v>
                </c:pt>
                <c:pt idx="1">
                  <c:v>238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8F8F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7B2D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2D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B47B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A68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E93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B2D8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C27B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B47B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A68C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Sales Executive</c:v>
                  </c:pt>
                  <c:pt idx="1">
                    <c:v>Research Scientist</c:v>
                  </c:pt>
                  <c:pt idx="2">
                    <c:v>Lab Technician</c:v>
                  </c:pt>
                  <c:pt idx="3">
                    <c:v>Mfg Director</c:v>
                  </c:pt>
                  <c:pt idx="4">
                    <c:v>Healthcare Rep</c:v>
                  </c:pt>
                  <c:pt idx="5">
                    <c:v>Manager</c:v>
                  </c:pt>
                  <c:pt idx="6">
                    <c:v>Sales Rep</c:v>
                  </c:pt>
                  <c:pt idx="7">
                    <c:v>Research Director</c:v>
                  </c:pt>
                  <c:pt idx="8">
                    <c:v>Human Resources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329</c:v>
                </c:pt>
                <c:pt idx="1">
                  <c:v>293</c:v>
                </c:pt>
                <c:pt idx="2">
                  <c:v>261</c:v>
                </c:pt>
                <c:pt idx="3">
                  <c:v>147</c:v>
                </c:pt>
                <c:pt idx="4">
                  <c:v>132</c:v>
                </c:pt>
                <c:pt idx="5">
                  <c:v>102</c:v>
                </c:pt>
                <c:pt idx="6">
                  <c:v>84</c:v>
                </c:pt>
                <c:pt idx="7">
                  <c:v>80</c:v>
                </c:pt>
                <c:pt idx="8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Analytics Dashboard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08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Insights &amp; Attrition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31089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7B2D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1,480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8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31089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7B2D8B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06040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8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Attrition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1089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7B2D8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$6.5K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8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Salary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310896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7B2D8B"/>
          </a:solidFill>
          <a:ln/>
        </p:spPr>
      </p:sp>
      <p:sp>
        <p:nvSpPr>
          <p:cNvPr id="14" name="Text 12"/>
          <p:cNvSpPr/>
          <p:nvPr/>
        </p:nvSpPr>
        <p:spPr>
          <a:xfrm>
            <a:off x="6903720" y="3154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03720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8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8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1,480 Employees  |  38 Features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B1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0" cy="502920"/>
          </a:xfrm>
          <a:prstGeom prst="rect">
            <a:avLst/>
          </a:prstGeom>
          <a:solidFill>
            <a:srgbClr val="7B2D8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32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1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Composition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1612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Department, gender, age, and education breakdown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548640" cy="502920"/>
          </a:xfrm>
          <a:prstGeom prst="rect">
            <a:avLst/>
          </a:prstGeom>
          <a:solidFill>
            <a:srgbClr val="7B2D8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691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1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Attrition Analysis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192024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leaving, when, and potential reasons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548640" cy="502920"/>
          </a:xfrm>
          <a:prstGeom prst="rect">
            <a:avLst/>
          </a:prstGeom>
          <a:solidFill>
            <a:srgbClr val="7B2D8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450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1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Compensation Insights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267919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distribution across roles and departments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91256"/>
            <a:ext cx="548640" cy="502920"/>
          </a:xfrm>
          <a:prstGeom prst="rect">
            <a:avLst/>
          </a:prstGeom>
          <a:solidFill>
            <a:srgbClr val="7B2D8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20954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1912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1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43814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data-driven conclusions from the analysis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950208"/>
            <a:ext cx="548640" cy="502920"/>
          </a:xfrm>
          <a:prstGeom prst="rect">
            <a:avLst/>
          </a:prstGeom>
          <a:solidFill>
            <a:srgbClr val="7B2D8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96849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1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419709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HR strategies to reduce attrition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B1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Composition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315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7315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of all employees are in Research &amp; Development. Gender skews 60% Male / 40% Female.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Groups &amp; Education Fields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7772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are 26–45 years old. Life Sciences &amp; Medical account for 73% of education backgrounds.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B1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Attrition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200400" cy="1828800"/>
          </a:xfrm>
          <a:prstGeom prst="rect">
            <a:avLst/>
          </a:prstGeom>
          <a:solidFill>
            <a:srgbClr val="5B1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08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Attrition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08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 employees left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0" y="73152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2880360"/>
            <a:ext cx="164592" cy="164592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employees (18–25) have highest relative attrition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3182112"/>
            <a:ext cx="164592" cy="164592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3136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Reps are smallest team but high churn exposure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3483864"/>
            <a:ext cx="164592" cy="164592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3438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travelers face higher burnout risk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3785616"/>
            <a:ext cx="164592" cy="164592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739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salary slab employees are most at-risk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Roles &amp; Compensation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8595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Monthly Payroll: $9.63M  |  Average Salary: $6,505/month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B1A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16% Attrition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 employees left. Highest risk in Sales and the 18–25 cohort.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R&amp;D Dominates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of the workforce is in Research &amp; Development (967 of 1,480).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5661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Gender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Male vs 40% Female — a 20-point gap warranting DEI review.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8229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914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Salary Risk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1280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earning below $5K/month show the highest attrition likelihood.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1945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 Travel Impact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2651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 frequently travel; this group faces higher burnout and attrition risk.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56616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3657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1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Education Skew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40233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Sciences (41%) and Medical (32%) dominate; other fields underrepresented.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" cy="411480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247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1338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retention programs targeting Sales Reps and 18–35 age group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11480" cy="411480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8105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8196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salary benchmarks for sub-$5K employees and introduce pay bands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411480" cy="411480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4963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5054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flexible work arrangements to reduce burnout among frequent travelers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411480" cy="411480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1821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1912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DEI initiatives to close the gender gap across hiring and promotions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411480" cy="411480"/>
          </a:xfrm>
          <a:prstGeom prst="ellipse">
            <a:avLst/>
          </a:prstGeom>
          <a:solidFill>
            <a:srgbClr val="E040F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8679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87705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predictive attrition model using satisfaction, overtime, and tenure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59943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08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Analytics Project  |  2025  |  Data-Driven Workforce Strategy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Analytics Dashboard</dc:title>
  <dc:subject>PptxGenJS Presentation</dc:subject>
  <dc:creator>HR Analytics Project</dc:creator>
  <cp:lastModifiedBy>HR Analytics Project</cp:lastModifiedBy>
  <cp:revision>1</cp:revision>
  <dcterms:created xsi:type="dcterms:W3CDTF">2026-05-24T18:32:12Z</dcterms:created>
  <dcterms:modified xsi:type="dcterms:W3CDTF">2026-05-24T18:32:12Z</dcterms:modified>
</cp:coreProperties>
</file>